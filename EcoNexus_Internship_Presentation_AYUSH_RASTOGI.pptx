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3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oghno ghosh" userId="336ffde45dedcd68" providerId="LiveId" clId="{E41EE4F5-4D58-4E9C-B2FC-5F5615964FDD}"/>
    <pc:docChg chg="custSel modSld">
      <pc:chgData name="Himoghno ghosh" userId="336ffde45dedcd68" providerId="LiveId" clId="{E41EE4F5-4D58-4E9C-B2FC-5F5615964FDD}" dt="2026-08-28T16:19:14.204" v="83" actId="207"/>
      <pc:docMkLst>
        <pc:docMk/>
      </pc:docMkLst>
      <pc:sldChg chg="addSp delSp modSp mod">
        <pc:chgData name="Himoghno ghosh" userId="336ffde45dedcd68" providerId="LiveId" clId="{E41EE4F5-4D58-4E9C-B2FC-5F5615964FDD}" dt="2026-08-28T16:19:14.204" v="83" actId="207"/>
        <pc:sldMkLst>
          <pc:docMk/>
          <pc:sldMk cId="0" sldId="256"/>
        </pc:sldMkLst>
        <pc:spChg chg="del">
          <ac:chgData name="Himoghno ghosh" userId="336ffde45dedcd68" providerId="LiveId" clId="{E41EE4F5-4D58-4E9C-B2FC-5F5615964FDD}" dt="2026-08-28T16:15:20.472" v="75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18:59.373" v="80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19:06.240" v="81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19:14.204" v="83" actId="207"/>
          <ac:spMkLst>
            <pc:docMk/>
            <pc:sldMk cId="0" sldId="256"/>
            <ac:spMk id="7" creationId="{00000000-0000-0000-0000-000000000000}"/>
          </ac:spMkLst>
        </pc:spChg>
        <pc:picChg chg="add mod">
          <ac:chgData name="Himoghno ghosh" userId="336ffde45dedcd68" providerId="LiveId" clId="{E41EE4F5-4D58-4E9C-B2FC-5F5615964FDD}" dt="2026-08-28T16:15:29.432" v="78" actId="14100"/>
          <ac:picMkLst>
            <pc:docMk/>
            <pc:sldMk cId="0" sldId="256"/>
            <ac:picMk id="28" creationId="{93BFC458-B316-5050-C385-F31FFCD47B3C}"/>
          </ac:picMkLst>
        </pc:picChg>
      </pc:sldChg>
      <pc:sldChg chg="modSp mod">
        <pc:chgData name="Himoghno ghosh" userId="336ffde45dedcd68" providerId="LiveId" clId="{E41EE4F5-4D58-4E9C-B2FC-5F5615964FDD}" dt="2026-08-28T15:55:26.104" v="9" actId="255"/>
        <pc:sldMkLst>
          <pc:docMk/>
          <pc:sldMk cId="0" sldId="258"/>
        </pc:sldMkLst>
        <pc:spChg chg="mod">
          <ac:chgData name="Himoghno ghosh" userId="336ffde45dedcd68" providerId="LiveId" clId="{E41EE4F5-4D58-4E9C-B2FC-5F5615964FDD}" dt="2026-08-28T15:53:57.456" v="0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5:10.380" v="7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5:26.104" v="9" actId="255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Himoghno ghosh" userId="336ffde45dedcd68" providerId="LiveId" clId="{E41EE4F5-4D58-4E9C-B2FC-5F5615964FDD}" dt="2026-08-28T15:57:36.785" v="28" actId="20577"/>
        <pc:sldMkLst>
          <pc:docMk/>
          <pc:sldMk cId="0" sldId="259"/>
        </pc:sldMkLst>
        <pc:spChg chg="mod">
          <ac:chgData name="Himoghno ghosh" userId="336ffde45dedcd68" providerId="LiveId" clId="{E41EE4F5-4D58-4E9C-B2FC-5F5615964FDD}" dt="2026-08-28T15:57:18.108" v="23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6:38.929" v="18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7:22.210" v="24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6:28.961" v="17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7:25.895" v="25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6:52.499" v="19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7:30.110" v="26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6:58.976" v="20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7:33.370" v="27" actId="2057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7:04.828" v="21" actId="25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7:36.785" v="28" actId="2057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7:10.152" v="22" actId="255"/>
          <ac:spMkLst>
            <pc:docMk/>
            <pc:sldMk cId="0" sldId="259"/>
            <ac:spMk id="27" creationId="{00000000-0000-0000-0000-000000000000}"/>
          </ac:spMkLst>
        </pc:spChg>
      </pc:sldChg>
      <pc:sldChg chg="modSp mod">
        <pc:chgData name="Himoghno ghosh" userId="336ffde45dedcd68" providerId="LiveId" clId="{E41EE4F5-4D58-4E9C-B2FC-5F5615964FDD}" dt="2026-08-28T15:58:29.460" v="34" actId="255"/>
        <pc:sldMkLst>
          <pc:docMk/>
          <pc:sldMk cId="0" sldId="260"/>
        </pc:sldMkLst>
        <pc:spChg chg="mod">
          <ac:chgData name="Himoghno ghosh" userId="336ffde45dedcd68" providerId="LiveId" clId="{E41EE4F5-4D58-4E9C-B2FC-5F5615964FDD}" dt="2026-08-28T15:57:59.943" v="29" actId="2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8:09.535" v="30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8:14.982" v="31" actId="25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8:29.460" v="34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8:19.818" v="32" actId="25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5:58:24.633" v="33" actId="255"/>
          <ac:spMkLst>
            <pc:docMk/>
            <pc:sldMk cId="0" sldId="260"/>
            <ac:spMk id="27" creationId="{00000000-0000-0000-0000-000000000000}"/>
          </ac:spMkLst>
        </pc:spChg>
      </pc:sldChg>
      <pc:sldChg chg="modSp mod">
        <pc:chgData name="Himoghno ghosh" userId="336ffde45dedcd68" providerId="LiveId" clId="{E41EE4F5-4D58-4E9C-B2FC-5F5615964FDD}" dt="2026-08-28T16:12:42.815" v="67" actId="14100"/>
        <pc:sldMkLst>
          <pc:docMk/>
          <pc:sldMk cId="0" sldId="262"/>
        </pc:sldMkLst>
        <pc:spChg chg="mod">
          <ac:chgData name="Himoghno ghosh" userId="336ffde45dedcd68" providerId="LiveId" clId="{E41EE4F5-4D58-4E9C-B2FC-5F5615964FDD}" dt="2026-08-28T16:09:40.507" v="39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09:50.840" v="41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10:21.163" v="46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11:44.760" v="61" actId="12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12:25.768" v="63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12:34.308" v="65" actId="1410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12:42.815" v="67" actId="14100"/>
          <ac:spMkLst>
            <pc:docMk/>
            <pc:sldMk cId="0" sldId="262"/>
            <ac:spMk id="28" creationId="{00000000-0000-0000-0000-000000000000}"/>
          </ac:spMkLst>
        </pc:spChg>
      </pc:sldChg>
      <pc:sldChg chg="modSp mod">
        <pc:chgData name="Himoghno ghosh" userId="336ffde45dedcd68" providerId="LiveId" clId="{E41EE4F5-4D58-4E9C-B2FC-5F5615964FDD}" dt="2026-08-28T16:14:09.442" v="74" actId="255"/>
        <pc:sldMkLst>
          <pc:docMk/>
          <pc:sldMk cId="0" sldId="267"/>
        </pc:sldMkLst>
        <pc:spChg chg="mod">
          <ac:chgData name="Himoghno ghosh" userId="336ffde45dedcd68" providerId="LiveId" clId="{E41EE4F5-4D58-4E9C-B2FC-5F5615964FDD}" dt="2026-08-28T16:14:00.933" v="73" actId="14100"/>
          <ac:spMkLst>
            <pc:docMk/>
            <pc:sldMk cId="0" sldId="267"/>
            <ac:spMk id="7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14:09.442" v="74" actId="255"/>
          <ac:spMkLst>
            <pc:docMk/>
            <pc:sldMk cId="0" sldId="267"/>
            <ac:spMk id="11" creationId="{00000000-0000-0000-0000-000000000000}"/>
          </ac:spMkLst>
        </pc:spChg>
      </pc:sldChg>
      <pc:sldChg chg="modSp mod">
        <pc:chgData name="Himoghno ghosh" userId="336ffde45dedcd68" providerId="LiveId" clId="{E41EE4F5-4D58-4E9C-B2FC-5F5615964FDD}" dt="2026-08-28T16:13:31.397" v="71" actId="207"/>
        <pc:sldMkLst>
          <pc:docMk/>
          <pc:sldMk cId="0" sldId="270"/>
        </pc:sldMkLst>
        <pc:spChg chg="mod">
          <ac:chgData name="Himoghno ghosh" userId="336ffde45dedcd68" providerId="LiveId" clId="{E41EE4F5-4D58-4E9C-B2FC-5F5615964FDD}" dt="2026-08-28T16:13:26.060" v="70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Himoghno ghosh" userId="336ffde45dedcd68" providerId="LiveId" clId="{E41EE4F5-4D58-4E9C-B2FC-5F5615964FDD}" dt="2026-08-28T16:13:31.397" v="71" actId="207"/>
          <ac:spMkLst>
            <pc:docMk/>
            <pc:sldMk cId="0" sldId="27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9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791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8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6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61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97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1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1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4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7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60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8443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95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70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2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45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4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85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9186-AD8D-E185-8E3F-FDC87A932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23"/>
            <a:ext cx="4556016" cy="14478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6AF96-6E5C-9C3B-F5AC-3E32B5980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681480"/>
            <a:ext cx="4556016" cy="5154397"/>
          </a:xfrm>
        </p:spPr>
        <p:txBody>
          <a:bodyPr/>
          <a:lstStyle/>
          <a:p>
            <a:r>
              <a:rPr lang="en-IN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Internship Presentation </a:t>
            </a:r>
          </a:p>
          <a:p>
            <a:r>
              <a:rPr lang="en-IN" sz="2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EcoNexus</a:t>
            </a:r>
            <a:endParaRPr lang="en-IN" sz="2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AI Powered Wildlife Conflict Prediction and Management System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CFCC47-801B-9D79-763A-A2D3E33CC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00"/>
            <a:ext cx="4473677" cy="1374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91800C-4BD3-3FA0-9248-52F9CF96A4DC}"/>
              </a:ext>
            </a:extLst>
          </p:cNvPr>
          <p:cNvSpPr txBox="1"/>
          <p:nvPr/>
        </p:nvSpPr>
        <p:spPr>
          <a:xfrm>
            <a:off x="0" y="4404008"/>
            <a:ext cx="6213986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Aptos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MARS – Centre for Sustainable Community Development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rgbClr val="BECAD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Full Stack Development  •  01 June – 15 July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5206F7-DAD5-A391-5816-AE718D1A82C5}"/>
              </a:ext>
            </a:extLst>
          </p:cNvPr>
          <p:cNvSpPr txBox="1"/>
          <p:nvPr/>
        </p:nvSpPr>
        <p:spPr>
          <a:xfrm>
            <a:off x="594360" y="6499123"/>
            <a:ext cx="2284600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 •  IILM UNIVERSITY  •  ECONEXUS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D0BDB5-28CC-98CE-3D03-57D53F93AB47}"/>
              </a:ext>
            </a:extLst>
          </p:cNvPr>
          <p:cNvSpPr txBox="1"/>
          <p:nvPr/>
        </p:nvSpPr>
        <p:spPr>
          <a:xfrm>
            <a:off x="5166360" y="685800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5BB7"/>
                </a:solidFill>
                <a:latin typeface="Aptos"/>
              </a:defRPr>
            </a:pPr>
            <a:r>
              <a:rPr dirty="0">
                <a:solidFill/>
              </a:rPr>
              <a:t>PROJECT &amp; INTERNSHIP PRESENTATION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6CB8062-EE11-0145-49BB-A2F3635404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66360" y="1062130"/>
            <a:ext cx="4119562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2DC8C"/>
                </a:solidFill>
                <a:latin typeface="Aptos Display"/>
              </a:defRPr>
            </a:pPr>
            <a:r>
              <a:rPr dirty="0" err="1">
                <a:solidFill>
                  <a:schemeClr val="bg1"/>
                </a:solidFill>
              </a:rPr>
              <a:t>EcoNexus</a:t>
            </a:r>
            <a:endParaRPr dirty="0">
              <a:solidFill>
                <a:schemeClr val="bg1"/>
              </a:solidFill>
            </a:endParaRPr>
          </a:p>
          <a:p>
            <a:pPr>
              <a:defRPr sz="1400">
                <a:solidFill>
                  <a:srgbClr val="D2DCEB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AI-Powered Wildlife Intelligence Platform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828AD4-3E66-850D-41EB-8A735844C837}"/>
              </a:ext>
            </a:extLst>
          </p:cNvPr>
          <p:cNvSpPr/>
          <p:nvPr/>
        </p:nvSpPr>
        <p:spPr>
          <a:xfrm>
            <a:off x="5791200" y="2251587"/>
            <a:ext cx="2910348" cy="140601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STUDENT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Ayush Rastogi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C504A4-2519-338A-8384-1B785FA260C9}"/>
              </a:ext>
            </a:extLst>
          </p:cNvPr>
          <p:cNvSpPr/>
          <p:nvPr/>
        </p:nvSpPr>
        <p:spPr>
          <a:xfrm>
            <a:off x="9109587" y="2251586"/>
            <a:ext cx="2910348" cy="140601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PROGRAM</a:t>
            </a: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r>
              <a:rPr lang="en-IN" sz="1400" dirty="0" err="1">
                <a:solidFill>
                  <a:schemeClr val="bg1"/>
                </a:solidFill>
              </a:rPr>
              <a:t>Btech</a:t>
            </a:r>
            <a:r>
              <a:rPr lang="en-IN" sz="1400" dirty="0">
                <a:solidFill>
                  <a:schemeClr val="bg1"/>
                </a:solidFill>
              </a:rPr>
              <a:t>-Computer Science and Engineering</a:t>
            </a:r>
          </a:p>
          <a:p>
            <a:r>
              <a:rPr lang="en-IN" sz="1400" dirty="0">
                <a:solidFill>
                  <a:schemeClr val="bg1"/>
                </a:solidFill>
              </a:rPr>
              <a:t>Batch 2025-2026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4386C2-2B99-B8F8-669F-14F3A31B3DE9}"/>
              </a:ext>
            </a:extLst>
          </p:cNvPr>
          <p:cNvSpPr/>
          <p:nvPr/>
        </p:nvSpPr>
        <p:spPr>
          <a:xfrm>
            <a:off x="5770967" y="4618703"/>
            <a:ext cx="2910348" cy="140601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ROLE</a:t>
            </a: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Wildlife Data &amp; GIS Analyst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7A6159-4210-8813-AF23-98A6176ADD9E}"/>
              </a:ext>
            </a:extLst>
          </p:cNvPr>
          <p:cNvSpPr/>
          <p:nvPr/>
        </p:nvSpPr>
        <p:spPr>
          <a:xfrm>
            <a:off x="9119419" y="4618702"/>
            <a:ext cx="2910348" cy="140601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MENTOR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Dr. Saurabh Shanu</a:t>
            </a:r>
          </a:p>
          <a:p>
            <a:r>
              <a:rPr lang="en-IN" sz="1400" dirty="0">
                <a:solidFill>
                  <a:schemeClr val="bg1"/>
                </a:solidFill>
              </a:rPr>
              <a:t>MARS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6749F98-409C-12DC-1865-F6A07FBBE5B3}"/>
              </a:ext>
            </a:extLst>
          </p:cNvPr>
          <p:cNvCxnSpPr/>
          <p:nvPr/>
        </p:nvCxnSpPr>
        <p:spPr>
          <a:xfrm>
            <a:off x="4945626" y="26500"/>
            <a:ext cx="0" cy="69249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887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Candidate &amp; Internship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303520" cy="356616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54864" cy="356616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CANDIDATE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3074881" cy="15465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dirty="0">
                <a:solidFill/>
              </a:rPr>
              <a:t>Student Name: </a:t>
            </a:r>
            <a:r>
              <a:rPr lang="en-IN" dirty="0">
                <a:solidFill/>
              </a:rPr>
              <a:t>Ayush Rastogi</a:t>
            </a:r>
            <a:br>
              <a:rPr dirty="0"/>
            </a:br>
            <a:br>
              <a:rPr dirty="0"/>
            </a:br>
            <a:r>
              <a:rPr dirty="0">
                <a:solidFill/>
              </a:rPr>
              <a:t>Roll Number: 25SCS10030</a:t>
            </a:r>
            <a:r>
              <a:rPr lang="en-IN" dirty="0">
                <a:solidFill/>
              </a:rPr>
              <a:t>00430</a:t>
            </a:r>
            <a:br>
              <a:rPr dirty="0"/>
            </a:br>
            <a:br>
              <a:rPr dirty="0"/>
            </a:br>
            <a:r>
              <a:rPr dirty="0">
                <a:solidFill/>
              </a:rPr>
              <a:t>Degree: </a:t>
            </a:r>
            <a:r>
              <a:rPr dirty="0" err="1">
                <a:solidFill/>
              </a:rPr>
              <a:t>B.Tech</a:t>
            </a:r>
            <a:r>
              <a:rPr dirty="0">
                <a:solidFill/>
              </a:rPr>
              <a:t> (Computer Science &amp; Engineering)</a:t>
            </a:r>
            <a:br>
              <a:rPr dirty="0"/>
            </a:br>
            <a:br>
              <a:rPr dirty="0"/>
            </a:br>
            <a:r>
              <a:rPr dirty="0">
                <a:solidFill/>
              </a:rPr>
              <a:t>Academic Batch: 2025–2026</a:t>
            </a:r>
            <a:br>
              <a:rPr dirty="0"/>
            </a:br>
            <a:br>
              <a:rPr dirty="0"/>
            </a:br>
            <a:r>
              <a:rPr dirty="0">
                <a:solidFill/>
              </a:rPr>
              <a:t>University: IILM University, Greater Noida, U.P.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303520" cy="356616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554480"/>
            <a:ext cx="54864" cy="356616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INTERNSHIP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12848"/>
            <a:ext cx="4275529" cy="15465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dirty="0">
                <a:solidFill/>
              </a:rPr>
              <a:t>Organization: MARS – Centre for Sustainable Community Development</a:t>
            </a:r>
            <a:br>
              <a:rPr dirty="0"/>
            </a:br>
            <a:br>
              <a:rPr dirty="0"/>
            </a:br>
            <a:r>
              <a:rPr dirty="0">
                <a:solidFill/>
              </a:rPr>
              <a:t>Domain: Full Stack Development</a:t>
            </a:r>
            <a:br>
              <a:rPr dirty="0"/>
            </a:br>
            <a:br>
              <a:rPr dirty="0"/>
            </a:br>
            <a:r>
              <a:rPr dirty="0">
                <a:solidFill/>
              </a:rPr>
              <a:t>Duration: 01 June 2026 – 15 July 2026</a:t>
            </a:r>
            <a:br>
              <a:rPr dirty="0"/>
            </a:br>
            <a:br>
              <a:rPr dirty="0"/>
            </a:br>
            <a:r>
              <a:rPr dirty="0">
                <a:solidFill/>
              </a:rPr>
              <a:t>Mentor: Dr. Saurabh Shanu</a:t>
            </a:r>
            <a:br>
              <a:rPr dirty="0"/>
            </a:br>
            <a:br>
              <a:rPr dirty="0"/>
            </a:br>
            <a:r>
              <a:rPr dirty="0">
                <a:solidFill/>
              </a:rPr>
              <a:t>Role: </a:t>
            </a:r>
            <a:r>
              <a:rPr lang="en-IN" dirty="0">
                <a:solidFill/>
              </a:rPr>
              <a:t>Project Team Member</a:t>
            </a:r>
            <a:endParaRPr dirty="0">
              <a:solidFill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226536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•  IILM UNIVERSITY  •  ECONEXUS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Organization &amp; Problem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03520" cy="425196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54864" cy="425196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2984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 dirty="0">
                <a:solidFill/>
              </a:rPr>
              <a:t>MARS – CENTRE FOR SUSTAINABLE COMMUNITY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55711"/>
            <a:ext cx="45673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A technology-focused Section 8 organization working on sustainable development initiatives. The internship connected software engineering with practical sustainability and wildlife-conservation objectives.</a:t>
            </a:r>
            <a:br>
              <a:rPr sz="1400" dirty="0"/>
            </a:br>
            <a:br>
              <a:rPr sz="1400" dirty="0"/>
            </a:br>
            <a:r>
              <a:rPr sz="1400" dirty="0">
                <a:solidFill/>
              </a:rPr>
              <a:t>Key alignment:</a:t>
            </a:r>
            <a:br>
              <a:rPr sz="1400" dirty="0"/>
            </a:br>
            <a:r>
              <a:rPr sz="1400" dirty="0">
                <a:solidFill/>
              </a:rPr>
              <a:t>• Technology-enabled sustainability</a:t>
            </a:r>
            <a:br>
              <a:rPr sz="1400" dirty="0"/>
            </a:br>
            <a:r>
              <a:rPr sz="1400" dirty="0">
                <a:solidFill/>
              </a:rPr>
              <a:t>• Wildlife conservation</a:t>
            </a:r>
            <a:br>
              <a:rPr sz="1400" dirty="0"/>
            </a:br>
            <a:r>
              <a:rPr sz="1400" dirty="0">
                <a:solidFill/>
              </a:rPr>
              <a:t>• Life on Land / biodiversity</a:t>
            </a:r>
            <a:br>
              <a:rPr sz="1400" dirty="0"/>
            </a:br>
            <a:r>
              <a:rPr sz="1400" dirty="0">
                <a:solidFill/>
              </a:rPr>
              <a:t>• Web and application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303520" cy="425196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4864" cy="425196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39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67128"/>
            <a:ext cx="46724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Human-wildlife conflict can occur where wildlife corridors intersect with settlements, agriculture, roads and other human activity.</a:t>
            </a:r>
            <a:br>
              <a:rPr sz="1400" dirty="0"/>
            </a:br>
            <a:br>
              <a:rPr sz="1400" dirty="0"/>
            </a:br>
            <a:r>
              <a:rPr sz="1400" dirty="0">
                <a:solidFill/>
              </a:rPr>
              <a:t>Information may be fragmented across:</a:t>
            </a:r>
            <a:br>
              <a:rPr sz="1400" dirty="0"/>
            </a:br>
            <a:r>
              <a:rPr sz="1400" dirty="0">
                <a:solidFill/>
              </a:rPr>
              <a:t>• Incident reporting</a:t>
            </a:r>
            <a:br>
              <a:rPr sz="1400" dirty="0"/>
            </a:br>
            <a:r>
              <a:rPr sz="1400" dirty="0">
                <a:solidFill/>
              </a:rPr>
              <a:t>• Location intelligence</a:t>
            </a:r>
            <a:br>
              <a:rPr sz="1400" dirty="0"/>
            </a:br>
            <a:r>
              <a:rPr sz="1400" dirty="0">
                <a:solidFill/>
              </a:rPr>
              <a:t>• Risk analysis</a:t>
            </a:r>
            <a:br>
              <a:rPr sz="1400" dirty="0"/>
            </a:br>
            <a:r>
              <a:rPr sz="1400" dirty="0">
                <a:solidFill/>
              </a:rPr>
              <a:t>• Alerts and response</a:t>
            </a:r>
            <a:br>
              <a:rPr sz="1400" dirty="0"/>
            </a:br>
            <a:r>
              <a:rPr sz="1400" dirty="0">
                <a:solidFill/>
              </a:rPr>
              <a:t>• Historical reporting</a:t>
            </a:r>
            <a:br>
              <a:rPr sz="1400" dirty="0"/>
            </a:br>
            <a:br>
              <a:rPr sz="1400" dirty="0"/>
            </a:br>
            <a:r>
              <a:rPr sz="1400" dirty="0" err="1">
                <a:solidFill/>
              </a:rPr>
              <a:t>EcoNexus</a:t>
            </a:r>
            <a:r>
              <a:rPr sz="1400" dirty="0">
                <a:solidFill/>
              </a:rPr>
              <a:t> unifies these capabilities.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2284600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 •  IILM UNIVERSITY  •  ECONEXUS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Core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337560" cy="178308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54864" cy="178308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197265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 dirty="0">
                <a:solidFill/>
              </a:rPr>
              <a:t>1  Unified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2606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One command center for wildlife incidents and field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37560" cy="178308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54864" cy="178308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91639"/>
            <a:ext cx="197682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 dirty="0">
                <a:solidFill/>
              </a:rPr>
              <a:t>2  Incident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67128"/>
            <a:ext cx="27706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Capture structured conflict information with location and severity.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337560" cy="178308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508760"/>
            <a:ext cx="54864" cy="178308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39"/>
            <a:ext cx="189263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 dirty="0">
                <a:solidFill/>
              </a:rPr>
              <a:t>3  AI Risk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67128"/>
            <a:ext cx="27375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Estimate conflict severity using a Random Forest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3337560" cy="178308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54864" cy="178308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239386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 dirty="0">
                <a:solidFill/>
              </a:rPr>
              <a:t>4  Geospatial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2606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Visualize corridors and incident locations on an interactive map.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657600"/>
            <a:ext cx="3337560" cy="178308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657600"/>
            <a:ext cx="54864" cy="178308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840480"/>
            <a:ext cx="178395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 dirty="0">
                <a:solidFill/>
              </a:rPr>
              <a:t>5  Alerts &amp;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15968"/>
            <a:ext cx="25511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Provide operational alerts, analytics and downloadable reports.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57600"/>
            <a:ext cx="3337560" cy="178308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3657600"/>
            <a:ext cx="54864" cy="178308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840480"/>
            <a:ext cx="226164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 dirty="0">
                <a:solidFill/>
              </a:rPr>
              <a:t>6  Scalable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315968"/>
            <a:ext cx="25968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Separate frontend, backend, database, services and ML layers.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230383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  •  IILM UNIVERSITY  •  ECONEXUS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33809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React.js • Vite • JavaScript • Tailwind CSS</a:t>
            </a:r>
            <a:br>
              <a:rPr sz="1400" dirty="0"/>
            </a:br>
            <a:r>
              <a:rPr sz="1400" dirty="0">
                <a:solidFill/>
              </a:rPr>
              <a:t>React Router DOM • </a:t>
            </a:r>
            <a:r>
              <a:rPr sz="1400" dirty="0" err="1">
                <a:solidFill/>
              </a:rPr>
              <a:t>Lucide</a:t>
            </a:r>
            <a:r>
              <a:rPr sz="1400" dirty="0">
                <a:solidFill/>
              </a:rPr>
              <a:t> 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27024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Python • Flask • Flask Blueprints</a:t>
            </a:r>
            <a:br>
              <a:rPr sz="1400" dirty="0"/>
            </a:br>
            <a:r>
              <a:rPr sz="1400" dirty="0">
                <a:solidFill/>
              </a:rPr>
              <a:t>Flask-CORS • 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92608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4448"/>
            <a:ext cx="26247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SQLite • </a:t>
            </a:r>
            <a:r>
              <a:rPr sz="1400" dirty="0" err="1">
                <a:solidFill/>
              </a:rPr>
              <a:t>SQLAlchemy</a:t>
            </a:r>
            <a:r>
              <a:rPr sz="1400" dirty="0">
                <a:solidFill/>
              </a:rPr>
              <a:t> ORM</a:t>
            </a:r>
            <a:br>
              <a:rPr sz="1400" dirty="0"/>
            </a:br>
            <a:r>
              <a:rPr sz="1400" dirty="0">
                <a:solidFill/>
              </a:rPr>
              <a:t>Structured incident persistence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2608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92608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AI /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24099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Scikit-learn • Random Forest</a:t>
            </a:r>
            <a:br>
              <a:rPr sz="1400" dirty="0"/>
            </a:br>
            <a:r>
              <a:rPr sz="1400" dirty="0">
                <a:solidFill/>
              </a:rPr>
              <a:t>Model artifacts / inference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3484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Maps &amp; GIS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93207"/>
            <a:ext cx="35866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Google Maps JavaScript API</a:t>
            </a:r>
            <a:r>
              <a:rPr lang="en-US" sz="1400" dirty="0">
                <a:solidFill/>
              </a:rPr>
              <a:t>, QGIS Software,</a:t>
            </a:r>
            <a:br>
              <a:rPr sz="1400" dirty="0"/>
            </a:br>
            <a:r>
              <a:rPr sz="1400" dirty="0">
                <a:solidFill/>
              </a:rPr>
              <a:t>Latitude/longitude • </a:t>
            </a:r>
            <a:r>
              <a:rPr sz="1400" dirty="0" err="1">
                <a:solidFill/>
              </a:rPr>
              <a:t>GeoJSON</a:t>
            </a:r>
            <a:endParaRPr sz="1400" dirty="0">
              <a:solidFill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63640" y="443484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443484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617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093207"/>
            <a:ext cx="28473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VS Code • Git • GitHub</a:t>
            </a:r>
            <a:br>
              <a:rPr sz="1400" dirty="0"/>
            </a:br>
            <a:r>
              <a:rPr lang="en-US" sz="1400" dirty="0"/>
              <a:t>,</a:t>
            </a:r>
            <a:r>
              <a:rPr lang="en-US" sz="1400" dirty="0">
                <a:solidFill/>
              </a:rPr>
              <a:t>NPM</a:t>
            </a:r>
            <a:r>
              <a:rPr sz="1400" dirty="0">
                <a:solidFill/>
              </a:rPr>
              <a:t> • Python virtual 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230383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  •  IILM UNIVERSITY  •  ECONEXUS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EcoNexus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Modular architecture connecting UI, APIs, data, machine learning and decision support.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286000" cy="114300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4864" cy="114300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React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Dashboard • Forms •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286000" cy="114300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54864" cy="114300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Flask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871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Auth • Incidents •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325880"/>
            <a:ext cx="2286000" cy="114300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80760" y="1325880"/>
            <a:ext cx="54864" cy="114300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SQLite + SQLAlchemy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8424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Persistent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743200"/>
            <a:ext cx="2286000" cy="114300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2743200"/>
            <a:ext cx="54864" cy="114300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2926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Random Forest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015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Risk inference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828800"/>
            <a:ext cx="2468880" cy="114300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1828800"/>
            <a:ext cx="54864" cy="114300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0116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Decision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4871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Alerts • Reports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71800" y="2395728"/>
            <a:ext cx="411480" cy="0"/>
          </a:xfrm>
          <a:prstGeom prst="line">
            <a:avLst/>
          </a:prstGeom>
          <a:ln w="31750">
            <a:solidFill>
              <a:srgbClr val="2A5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669280" y="1901952"/>
            <a:ext cx="411480" cy="246888"/>
          </a:xfrm>
          <a:prstGeom prst="line">
            <a:avLst/>
          </a:prstGeom>
          <a:ln w="31750">
            <a:solidFill>
              <a:srgbClr val="2A5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69280" y="2651760"/>
            <a:ext cx="411480" cy="658368"/>
          </a:xfrm>
          <a:prstGeom prst="line">
            <a:avLst/>
          </a:prstGeom>
          <a:ln w="31750">
            <a:solidFill>
              <a:srgbClr val="2A5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66760" y="2395728"/>
            <a:ext cx="411480" cy="0"/>
          </a:xfrm>
          <a:prstGeom prst="line">
            <a:avLst/>
          </a:prstGeom>
          <a:ln w="31750">
            <a:solidFill>
              <a:srgbClr val="2A5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97280" y="4709160"/>
            <a:ext cx="9875520" cy="96012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97280" y="4709160"/>
            <a:ext cx="54864" cy="96012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489204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DATA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367528"/>
            <a:ext cx="9418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Officer → React UI → Flask APIs → Database / ML → Risk, Alerts, Maps &amp; 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2284600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 •  IILM UNIVERSITY  •  ECONEXUS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AI / Machine Learning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Random Forest classification used for wildlife conflict severity prediction.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" y="1917954"/>
            <a:ext cx="1627632" cy="324612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B15E"/>
                </a:solidFill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78608"/>
            <a:ext cx="14447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234"/>
                </a:solidFill>
              </a:defRPr>
            </a:pPr>
            <a:r>
              <a:rPr>
                <a:solidFill/>
              </a:rPr>
              <a:t>Historical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392423"/>
            <a:ext cx="1508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>
                <a:solidFill>
                  <a:srgbClr val="5F6C80"/>
                </a:solidFill>
              </a:defRPr>
            </a:pPr>
            <a:r>
              <a:rPr sz="1400" dirty="0">
                <a:solidFill/>
              </a:rPr>
              <a:t>Conflict records + corridor/geographical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1874519"/>
            <a:ext cx="1627632" cy="324612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87752" y="210312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B15E"/>
                </a:solidFill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578608"/>
            <a:ext cx="14447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234"/>
                </a:solidFill>
              </a:defRPr>
            </a:pPr>
            <a:r>
              <a:rPr>
                <a:solidFill/>
              </a:rPr>
              <a:t>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3429000"/>
            <a:ext cx="1444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>
                <a:solidFill>
                  <a:srgbClr val="5F6C80"/>
                </a:solidFill>
              </a:defRPr>
            </a:pPr>
            <a:r>
              <a:rPr sz="1400" dirty="0">
                <a:solidFill/>
              </a:rPr>
              <a:t>Cleaning, validation and categorical encoding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874519"/>
            <a:ext cx="1627632" cy="324612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9704" y="210312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B15E"/>
                </a:solidFill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578608"/>
            <a:ext cx="14447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234"/>
                </a:solidFill>
              </a:defRPr>
            </a:pPr>
            <a:r>
              <a:rPr>
                <a:solidFill/>
              </a:rPr>
              <a:t>Feature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3310128"/>
            <a:ext cx="158432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5F6C80"/>
                </a:solidFill>
              </a:defRPr>
            </a:pPr>
            <a:r>
              <a:rPr sz="1400" dirty="0">
                <a:solidFill/>
              </a:rPr>
              <a:t>Species</a:t>
            </a:r>
            <a:endParaRPr lang="en-IN" sz="1400" dirty="0">
              <a:solidFill/>
            </a:endParaRPr>
          </a:p>
          <a:p>
            <a:pPr>
              <a:defRPr sz="880">
                <a:solidFill>
                  <a:srgbClr val="5F6C80"/>
                </a:solidFill>
              </a:defRPr>
            </a:pPr>
            <a:r>
              <a:rPr sz="1400" dirty="0">
                <a:solidFill/>
              </a:rPr>
              <a:t> • State </a:t>
            </a:r>
            <a:endParaRPr lang="en-IN" sz="1400" dirty="0">
              <a:solidFill/>
            </a:endParaRPr>
          </a:p>
          <a:p>
            <a:pPr>
              <a:defRPr sz="880">
                <a:solidFill>
                  <a:srgbClr val="5F6C80"/>
                </a:solidFill>
              </a:defRPr>
            </a:pPr>
            <a:r>
              <a:rPr sz="1400" dirty="0">
                <a:solidFill/>
              </a:rPr>
              <a:t>• Corridor </a:t>
            </a:r>
            <a:endParaRPr lang="en-IN" sz="1400" dirty="0">
              <a:solidFill/>
            </a:endParaRPr>
          </a:p>
          <a:p>
            <a:pPr>
              <a:defRPr sz="880">
                <a:solidFill>
                  <a:srgbClr val="5F6C80"/>
                </a:solidFill>
              </a:defRPr>
            </a:pPr>
            <a:r>
              <a:rPr sz="1400" dirty="0">
                <a:solidFill/>
              </a:rPr>
              <a:t>• Conflict Type </a:t>
            </a:r>
            <a:endParaRPr lang="en-IN" sz="1400" dirty="0">
              <a:solidFill/>
            </a:endParaRPr>
          </a:p>
          <a:p>
            <a:pPr>
              <a:defRPr sz="880">
                <a:solidFill>
                  <a:srgbClr val="5F6C80"/>
                </a:solidFill>
              </a:defRPr>
            </a:pPr>
            <a:r>
              <a:rPr sz="1400" dirty="0">
                <a:solidFill/>
              </a:rPr>
              <a:t>• Coordinates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874519"/>
            <a:ext cx="1627632" cy="324612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1656" y="210312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B15E"/>
                </a:solidFill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578608"/>
            <a:ext cx="14447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234"/>
                </a:solidFill>
              </a:defRPr>
            </a:pPr>
            <a:r>
              <a:rPr>
                <a:solidFill/>
              </a:rPr>
              <a:t>Model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310128"/>
            <a:ext cx="13648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>
                <a:solidFill>
                  <a:srgbClr val="5F6C80"/>
                </a:solidFill>
              </a:defRPr>
            </a:pPr>
            <a:r>
              <a:rPr sz="1400" dirty="0">
                <a:solidFill/>
              </a:rPr>
              <a:t>Random Forest classifier trained on severity labels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8" y="1874519"/>
            <a:ext cx="1627632" cy="324612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210312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B15E"/>
                </a:solidFill>
              </a:defRPr>
            </a:pPr>
            <a:r>
              <a:rPr>
                <a:solidFill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578608"/>
            <a:ext cx="14447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234"/>
                </a:solidFill>
              </a:defRPr>
            </a:pPr>
            <a:r>
              <a:rPr>
                <a:solidFill/>
              </a:rPr>
              <a:t>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3310128"/>
            <a:ext cx="14745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>
                <a:solidFill>
                  <a:srgbClr val="5F6C80"/>
                </a:solidFill>
              </a:defRPr>
            </a:pPr>
            <a:r>
              <a:rPr sz="1400" dirty="0">
                <a:solidFill/>
              </a:rPr>
              <a:t>Backend loads model and aligns incoming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1874519"/>
            <a:ext cx="1627632" cy="324612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95560" y="210312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B15E"/>
                </a:solidFill>
              </a:defRPr>
            </a:pPr>
            <a:r>
              <a:rPr>
                <a:solidFill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578608"/>
            <a:ext cx="14447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234"/>
                </a:solidFill>
              </a:defRPr>
            </a:pPr>
            <a:r>
              <a:rPr>
                <a:solidFill/>
              </a:rPr>
              <a:t>Decision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3848" y="3310128"/>
            <a:ext cx="14447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>
                <a:solidFill>
                  <a:srgbClr val="5F6C80"/>
                </a:solidFill>
              </a:defRPr>
            </a:pPr>
            <a:r>
              <a:rPr sz="1400" dirty="0">
                <a:solidFill/>
              </a:rPr>
              <a:t>Risk score + severity + 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226536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•  IILM UNIVERSITY  •  ECONEXUS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EcoNexus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Operational dashboard for real-time wildlife intelligence.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61d292f3-0039-4102-8628-30a204cfda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116" y="1417320"/>
            <a:ext cx="969816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2284600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 </a:t>
            </a:r>
            <a:r>
              <a:rPr dirty="0">
                <a:solidFill/>
              </a:rPr>
              <a:t> •  IILM UNIVERSITY  •  ECONEXUS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Smart Incident Reporting &amp; AI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5062e78-7b1e-4d81-bcae-62d4cec0e5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73871"/>
            <a:ext cx="5486400" cy="2778937"/>
          </a:xfrm>
          <a:prstGeom prst="rect">
            <a:avLst/>
          </a:prstGeom>
        </p:spPr>
      </p:pic>
      <p:pic>
        <p:nvPicPr>
          <p:cNvPr id="5" name="Picture 4" descr="3adb6cdb-2c31-445b-a15d-6118e82cb0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85450"/>
            <a:ext cx="5440680" cy="27557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3504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B15E"/>
                </a:solidFill>
              </a:defRPr>
            </a:pPr>
            <a:r>
              <a:rPr>
                <a:solidFill/>
              </a:rPr>
              <a:t>SMART INCIDENT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03504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BB7"/>
                </a:solidFill>
              </a:defRPr>
            </a:pPr>
            <a:r>
              <a:rPr>
                <a:solidFill/>
              </a:rPr>
              <a:t>AI WILDLIFE CONFLICT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226536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•  IILM UNIVERSITY  •  ECONEXUS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Operational Intelligence: Map, Reports &amp; Alerts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9dbb77de-a063-4a19-bcd8-6c1fd159b6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29580"/>
            <a:ext cx="5486400" cy="2776078"/>
          </a:xfrm>
          <a:prstGeom prst="rect">
            <a:avLst/>
          </a:prstGeom>
        </p:spPr>
      </p:pic>
      <p:pic>
        <p:nvPicPr>
          <p:cNvPr id="5" name="Picture 4" descr="3272fbd0-0c69-402b-8477-345fe9bae8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109" y="1417320"/>
            <a:ext cx="4636860" cy="2331720"/>
          </a:xfrm>
          <a:prstGeom prst="rect">
            <a:avLst/>
          </a:prstGeom>
        </p:spPr>
      </p:pic>
      <p:pic>
        <p:nvPicPr>
          <p:cNvPr id="6" name="Picture 5" descr="693624f1-f250-4943-9898-48d6f87a9e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86200"/>
            <a:ext cx="461772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510528"/>
            <a:ext cx="2284600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 •  IILM UNIVERSITY  •  ECONEXUS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Key Demonstrated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39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B15E"/>
                </a:solidFill>
                <a:latin typeface="Aptos Display"/>
              </a:defRPr>
            </a:pPr>
            <a:r>
              <a:rPr>
                <a:solidFill/>
              </a:rPr>
              <a:t>97.8%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Dashboard AI accuracy indicator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691639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A5BB7"/>
                </a:solidFill>
                <a:latin typeface="Aptos Display"/>
              </a:defRPr>
            </a:pPr>
            <a:r>
              <a:rPr>
                <a:solidFill/>
              </a:rPr>
              <a:t>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1284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Active sensors displayed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5544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39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B15E"/>
                </a:solidFill>
                <a:latin typeface="Aptos Display"/>
              </a:defRPr>
            </a:pPr>
            <a:r>
              <a:rPr>
                <a:solidFill/>
              </a:rPr>
              <a:t>99.9%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1284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System uptime indicator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5544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19" y="1691639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A5BB7"/>
                </a:solidFill>
                <a:latin typeface="Aptos Display"/>
              </a:defRPr>
            </a:pPr>
            <a:r>
              <a:rPr>
                <a:solidFill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9" y="221284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Active alerts displayed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54680"/>
            <a:ext cx="5303520" cy="224028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154680"/>
            <a:ext cx="54864" cy="224028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3375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PREDICTION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13048"/>
            <a:ext cx="48463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Representative project scenarios:</a:t>
            </a:r>
            <a:br/>
            <a:r>
              <a:rPr>
                <a:solidFill/>
              </a:rPr>
              <a:t>• Tiger movement — 81.5% risk — High</a:t>
            </a:r>
            <a:br/>
            <a:r>
              <a:rPr>
                <a:solidFill/>
              </a:rPr>
              <a:t>• Elephant movement — 92.1% risk — High</a:t>
            </a:r>
            <a:br/>
            <a:r>
              <a:rPr>
                <a:solidFill/>
              </a:rPr>
              <a:t>• Leopard sighting — 34.2% risk — Low</a:t>
            </a:r>
            <a:br/>
            <a:r>
              <a:rPr>
                <a:solidFill/>
              </a:rPr>
              <a:t>• Bear movement — 76.8% risk — 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54680"/>
            <a:ext cx="5303520" cy="224028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154680"/>
            <a:ext cx="54864" cy="224028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FUNCTIONAL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13048"/>
            <a:ext cx="48463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• Incident reporting workflow</a:t>
            </a:r>
            <a:br/>
            <a:r>
              <a:rPr>
                <a:solidFill/>
              </a:rPr>
              <a:t>• REST API integration</a:t>
            </a:r>
            <a:br/>
            <a:r>
              <a:rPr>
                <a:solidFill/>
              </a:rPr>
              <a:t>• ML inference service</a:t>
            </a:r>
            <a:br/>
            <a:r>
              <a:rPr>
                <a:solidFill/>
              </a:rPr>
              <a:t>• Interactive wildlife map</a:t>
            </a:r>
            <a:br/>
            <a:r>
              <a:rPr>
                <a:solidFill/>
              </a:rPr>
              <a:t>• Reports and alerts</a:t>
            </a:r>
            <a:br/>
            <a:r>
              <a:rPr>
                <a:solidFill/>
              </a:rPr>
              <a:t>• Modular database-backed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230383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  •  IILM UNIVERSITY  •  ECONEXUS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My Role, Responsibilities &amp;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03520" cy="42062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54864" cy="42062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TEAM 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1" y="2167128"/>
            <a:ext cx="5074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Team Members: </a:t>
            </a:r>
            <a:r>
              <a:rPr sz="1400" dirty="0" err="1">
                <a:solidFill/>
              </a:rPr>
              <a:t>Prangita</a:t>
            </a:r>
            <a:r>
              <a:rPr sz="1400" dirty="0">
                <a:solidFill/>
              </a:rPr>
              <a:t> Baruah Kumar, Ayush Rastogi, Adarsh Singh, Himoghno Ghosh</a:t>
            </a:r>
            <a:br>
              <a:rPr sz="1400" dirty="0"/>
            </a:br>
            <a:br>
              <a:rPr sz="1400" dirty="0"/>
            </a:br>
            <a:r>
              <a:rPr sz="1400" dirty="0">
                <a:solidFill/>
              </a:rPr>
              <a:t>My responsibilities:</a:t>
            </a:r>
            <a:br>
              <a:rPr sz="1400" dirty="0"/>
            </a:br>
            <a:r>
              <a:rPr sz="1400" dirty="0">
                <a:solidFill/>
              </a:rPr>
              <a:t>• Coordinated the team and divided tasks</a:t>
            </a:r>
            <a:br>
              <a:rPr sz="1400" dirty="0"/>
            </a:br>
            <a:r>
              <a:rPr sz="1400" dirty="0">
                <a:solidFill/>
              </a:rPr>
              <a:t>• Monitored progress and resolved blockers</a:t>
            </a:r>
            <a:br>
              <a:rPr sz="1400" dirty="0"/>
            </a:br>
            <a:r>
              <a:rPr sz="1400" dirty="0">
                <a:solidFill/>
              </a:rPr>
              <a:t>• Handled backend / ML integration</a:t>
            </a:r>
            <a:br>
              <a:rPr sz="1400" dirty="0"/>
            </a:br>
            <a:r>
              <a:rPr sz="1400" dirty="0">
                <a:solidFill/>
              </a:rPr>
              <a:t>• Assisted with debugging</a:t>
            </a:r>
            <a:br>
              <a:rPr sz="1400" dirty="0"/>
            </a:br>
            <a:r>
              <a:rPr sz="1400" dirty="0">
                <a:solidFill/>
              </a:rPr>
              <a:t>• Coordinated frontend-backend integration</a:t>
            </a:r>
            <a:br>
              <a:rPr sz="1400" dirty="0"/>
            </a:br>
            <a:r>
              <a:rPr sz="1400" dirty="0">
                <a:solidFill/>
              </a:rPr>
              <a:t>• Managed the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303520" cy="42062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4864" cy="42062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39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SKILLS DEVELOPED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67128"/>
            <a:ext cx="3167406" cy="289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 sz="1400" dirty="0">
                <a:solidFill/>
              </a:rPr>
              <a:t>Technical:</a:t>
            </a:r>
            <a:br>
              <a:rPr sz="1400" dirty="0"/>
            </a:br>
            <a:r>
              <a:rPr sz="1400" dirty="0">
                <a:solidFill/>
              </a:rPr>
              <a:t>• React + Flask full-stack development</a:t>
            </a:r>
            <a:br>
              <a:rPr sz="1400" dirty="0"/>
            </a:br>
            <a:r>
              <a:rPr sz="1400" dirty="0">
                <a:solidFill/>
              </a:rPr>
              <a:t>• REST API design and integration</a:t>
            </a:r>
            <a:br>
              <a:rPr sz="1400" dirty="0"/>
            </a:br>
            <a:r>
              <a:rPr sz="1400" dirty="0">
                <a:solidFill/>
              </a:rPr>
              <a:t>• SQLite / </a:t>
            </a:r>
            <a:r>
              <a:rPr sz="1400" dirty="0" err="1">
                <a:solidFill/>
              </a:rPr>
              <a:t>SQLAlchemy</a:t>
            </a:r>
            <a:br>
              <a:rPr sz="1400" dirty="0"/>
            </a:br>
            <a:r>
              <a:rPr sz="1400" dirty="0">
                <a:solidFill/>
              </a:rPr>
              <a:t>• ML model integration</a:t>
            </a:r>
            <a:br>
              <a:rPr sz="1400" dirty="0"/>
            </a:br>
            <a:r>
              <a:rPr sz="1400" dirty="0">
                <a:solidFill/>
              </a:rPr>
              <a:t>• Geospatial visualization</a:t>
            </a:r>
            <a:br>
              <a:rPr sz="1400" dirty="0"/>
            </a:br>
            <a:r>
              <a:rPr sz="1400" dirty="0">
                <a:solidFill/>
              </a:rPr>
              <a:t>• Git / GitHub</a:t>
            </a:r>
            <a:br>
              <a:rPr sz="1400" dirty="0"/>
            </a:br>
            <a:br>
              <a:rPr sz="1400" dirty="0"/>
            </a:br>
            <a:r>
              <a:rPr sz="1400" dirty="0">
                <a:solidFill/>
              </a:rPr>
              <a:t>Professional:</a:t>
            </a:r>
            <a:br>
              <a:rPr sz="1400" dirty="0"/>
            </a:br>
            <a:r>
              <a:rPr sz="1400" dirty="0">
                <a:solidFill/>
              </a:rPr>
              <a:t>• Team coordination</a:t>
            </a:r>
            <a:br>
              <a:rPr sz="1400" dirty="0"/>
            </a:br>
            <a:r>
              <a:rPr sz="1400" dirty="0">
                <a:solidFill/>
              </a:rPr>
              <a:t>• Problem solving</a:t>
            </a:r>
            <a:br>
              <a:rPr sz="1400" dirty="0"/>
            </a:br>
            <a:r>
              <a:rPr sz="1400" dirty="0">
                <a:solidFill/>
              </a:rPr>
              <a:t>• Technical communication</a:t>
            </a:r>
            <a:br>
              <a:rPr sz="1400" dirty="0"/>
            </a:br>
            <a:r>
              <a:rPr sz="1400" dirty="0">
                <a:solidFill/>
              </a:rPr>
              <a:t>• Presentation and project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230383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  •  IILM UNIVERSITY  •  ECONEXUS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Real-Time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IoT sensors, camera traps and continuous incident 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Remote Sensing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Satellite imagery and environmental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92608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Field Mobility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444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Offline-first mobile/PWA workflows for forest officers.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2608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92608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Advanced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Temporal and spatial forecasting with continuous retraining.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3484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Connected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93207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GPS telemetry, patrol coordination and automated alerts.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434840"/>
            <a:ext cx="5212080" cy="1234440"/>
          </a:xfrm>
          <a:prstGeom prst="roundRect">
            <a:avLst/>
          </a:prstGeom>
          <a:solidFill>
            <a:srgbClr val="EFF9F3"/>
          </a:solidFill>
          <a:ln>
            <a:solidFill>
              <a:srgbClr val="C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4434840"/>
            <a:ext cx="54864" cy="1234440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617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/>
              </a:rPr>
              <a:t>Cloud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093207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80"/>
                </a:solidFill>
                <a:latin typeface="Aptos"/>
              </a:defRPr>
            </a:pPr>
            <a:r>
              <a:rPr>
                <a:solidFill/>
              </a:rPr>
              <a:t>Multi-department deployment and centralized analytics.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230383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  •  IILM UNIVERSITY  •  ECONEXUS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 Display"/>
              </a:defRPr>
            </a:pPr>
            <a:r>
              <a:rPr>
                <a:solidFill>
                  <a:srgbClr val="124334"/>
                </a:solidFill>
              </a:rPr>
              <a:t>Internship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2391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284600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C80"/>
                </a:solidFill>
                <a:latin typeface="Aptos"/>
              </a:defRPr>
            </a:pPr>
            <a:r>
              <a:rPr lang="en-IN" dirty="0">
                <a:solidFill/>
              </a:rPr>
              <a:t>AYUSH RASTOGI</a:t>
            </a:r>
            <a:r>
              <a:rPr dirty="0">
                <a:solidFill/>
              </a:rPr>
              <a:t> •  IILM UNIVERSITY  •  ECONEXUS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340112-17BA-E5A7-43AC-F20F69329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100" y="1284880"/>
            <a:ext cx="3800363" cy="50077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45BA6C-7C8B-62E3-698C-DBC8DBF23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40" y="1302872"/>
            <a:ext cx="3800362" cy="52076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D1A4-E35A-F150-4E46-10955B6EE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653" y="336486"/>
            <a:ext cx="8825657" cy="1915647"/>
          </a:xfrm>
        </p:spPr>
        <p:txBody>
          <a:bodyPr/>
          <a:lstStyle/>
          <a:p>
            <a:r>
              <a:rPr lang="en-IN" sz="4800" u="sng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IN" sz="8800" u="sng" dirty="0">
                <a:solidFill>
                  <a:schemeClr val="bg1"/>
                </a:solidFill>
                <a:latin typeface="Algerian" panose="04020705040A02060702" pitchFamily="82" charset="0"/>
              </a:rPr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9730-E58A-DB86-5F79-F4453303B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2959510"/>
            <a:ext cx="8825658" cy="333313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                                                 </a:t>
            </a:r>
            <a:r>
              <a:rPr lang="en-IN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AYUSH RASTOGI </a:t>
            </a:r>
          </a:p>
          <a:p>
            <a:r>
              <a:rPr lang="en-IN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                                              </a:t>
            </a:r>
            <a:r>
              <a:rPr lang="en-IN" sz="12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25SCS1003000430  . BTECH CSE</a:t>
            </a:r>
          </a:p>
          <a:p>
            <a:r>
              <a:rPr lang="en-IN" sz="12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                                                            SCHOOL OF COMPUTER SCIENCE &amp; ENGINEERING </a:t>
            </a:r>
          </a:p>
          <a:p>
            <a:r>
              <a:rPr lang="en-IN" sz="12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                                                          IILM UNIVERSITY GREATER NOIDA , UTTAR PRADESH  </a:t>
            </a:r>
          </a:p>
          <a:p>
            <a:endParaRPr lang="en-IN" sz="12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en-IN" sz="2800" b="1" dirty="0" err="1">
                <a:solidFill>
                  <a:schemeClr val="bg1"/>
                </a:solidFill>
                <a:latin typeface="Bahnschrift SemiBold" panose="020B0502040204020203" pitchFamily="34" charset="0"/>
              </a:rPr>
              <a:t>Econexus</a:t>
            </a:r>
            <a:endParaRPr lang="en-IN" sz="28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Ai powered wildlife intelligent for protective conservation </a:t>
            </a:r>
            <a:endParaRPr lang="en-IN" sz="1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294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89</TotalTime>
  <Words>1034</Words>
  <Application>Microsoft Office PowerPoint</Application>
  <PresentationFormat>Widescreen</PresentationFormat>
  <Paragraphs>157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Aptos</vt:lpstr>
      <vt:lpstr>Bahnschrift</vt:lpstr>
      <vt:lpstr>Bahnschrift SemiBold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Ayush Rastogi</cp:lastModifiedBy>
  <cp:revision>5</cp:revision>
  <dcterms:created xsi:type="dcterms:W3CDTF">2013-01-27T09:14:16Z</dcterms:created>
  <dcterms:modified xsi:type="dcterms:W3CDTF">2026-08-30T06:32:27Z</dcterms:modified>
  <cp:category/>
</cp:coreProperties>
</file>